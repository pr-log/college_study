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182880" cy="182880"/>
          </a:xfrm>
          <a:prstGeom prst="rect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59736"/>
            <a:ext cx="182880" cy="182880"/>
          </a:xfrm>
          <a:prstGeom prst="rect">
            <a:avLst/>
          </a:prstGeom>
          <a:solidFill>
            <a:srgbClr val="0A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70632"/>
            <a:ext cx="182880" cy="182880"/>
          </a:xfrm>
          <a:prstGeom prst="rect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C8AA6E"/>
                </a:solidFill>
                <a:latin typeface="Malgun Gothic"/>
                <a:ea typeface="Malgun Gothic"/>
                <a:cs typeface="Malgun Gothic"/>
              </a:rPr>
              <a:t>데이터로 보는 프로 LoL</a:t>
            </a:r>
          </a:p>
          <a:p>
            <a:pPr algn="l">
              <a:spcAft>
                <a:spcPts val="1800"/>
              </a:spcAft>
            </a:pPr>
            <a:r>
              <a:rPr sz="2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무엇이 강한 선수·강한 팀을 만드는가</a:t>
            </a:r>
          </a:p>
          <a:p>
            <a:pPr algn="l"/>
            <a:r>
              <a:rPr sz="1400" b="0" i="0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데이터시각화  ·  Oracle's Elixir (2024–2025)  ·  R / ggplot2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680"/>
                </a:solidFill>
                <a:latin typeface="Malgun Gothic"/>
                <a:ea typeface="Malgun Gothic"/>
                <a:cs typeface="Malgun Gothic"/>
              </a:rPr>
              <a:t>이름 ○○○   |   학번 000000   |   데이터시각화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왜 이 주제인가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126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E2328"/>
                </a:solidFill>
                <a:latin typeface="Malgun Gothic"/>
                <a:ea typeface="Malgun Gothic"/>
                <a:cs typeface="Malgun Gothic"/>
              </a:rPr>
              <a:t>저는 평소 롤을 즐겨 하고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1E2328"/>
                </a:solidFill>
                <a:latin typeface="Malgun Gothic"/>
                <a:ea typeface="Malgun Gothic"/>
                <a:cs typeface="Malgun Gothic"/>
              </a:rPr>
              <a:t>프로 경기도 자주 봅니다.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E2328"/>
                </a:solidFill>
                <a:latin typeface="Malgun Gothic"/>
                <a:ea typeface="Malgun Gothic"/>
                <a:cs typeface="Malgun Gothic"/>
              </a:rPr>
              <a:t>“그냥 잘한다”는 느낌이 아니라,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E2328"/>
                </a:solidFill>
                <a:latin typeface="Malgun Gothic"/>
                <a:ea typeface="Malgun Gothic"/>
                <a:cs typeface="Malgun Gothic"/>
              </a:rPr>
              <a:t>강한 선수의 차이를 실제 데이터로</a:t>
            </a:r>
          </a:p>
          <a:p>
            <a:pPr algn="l"/>
            <a:r>
              <a:rPr sz="1800" b="0" i="0">
                <a:solidFill>
                  <a:srgbClr val="1E2328"/>
                </a:solidFill>
                <a:latin typeface="Malgun Gothic"/>
                <a:ea typeface="Malgun Gothic"/>
                <a:cs typeface="Malgun Gothic"/>
              </a:rPr>
              <a:t>확인해보고 싶어 이 주제를 골랐습니다.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1828800"/>
            <a:ext cx="4297680" cy="3108960"/>
          </a:xfrm>
          <a:prstGeom prst="round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3749039" cy="3108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4000" b="1">
                <a:solidFill>
                  <a:srgbClr val="C8AA6E"/>
                </a:solidFill>
                <a:latin typeface="Malgun Gothic"/>
                <a:ea typeface="Malgun Gothic"/>
                <a:cs typeface="Malgun Gothic"/>
              </a:rPr>
              <a:t>“</a:t>
            </a:r>
          </a:p>
          <a:p>
            <a:r>
              <a:rPr sz="2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강한 선수는
대체 뭐가 다를까?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데이터 &amp;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257800" cy="1783080"/>
          </a:xfrm>
          <a:prstGeom prst="round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19" y="1828800"/>
            <a:ext cx="4617720" cy="12344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88A4E"/>
                </a:solidFill>
                <a:latin typeface="Malgun Gothic"/>
                <a:ea typeface="Malgun Gothic"/>
                <a:cs typeface="Malgun Gothic"/>
              </a:rPr>
              <a:t>데이터 출처</a:t>
            </a:r>
          </a:p>
          <a:p>
            <a:r>
              <a:rPr sz="2300" b="1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Oracle's Elixir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554480"/>
            <a:ext cx="5257800" cy="1783080"/>
          </a:xfrm>
          <a:prstGeom prst="round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79" y="1828800"/>
            <a:ext cx="4617720" cy="12344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88A4E"/>
                </a:solidFill>
                <a:latin typeface="Malgun Gothic"/>
                <a:ea typeface="Malgun Gothic"/>
                <a:cs typeface="Malgun Gothic"/>
              </a:rPr>
              <a:t>분석 기간</a:t>
            </a:r>
          </a:p>
          <a:p>
            <a:r>
              <a:rPr sz="2300" b="1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2024 – 2025 시즌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5257800" cy="1783080"/>
          </a:xfrm>
          <a:prstGeom prst="round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3794760"/>
            <a:ext cx="4617720" cy="12344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88A4E"/>
                </a:solidFill>
                <a:latin typeface="Malgun Gothic"/>
                <a:ea typeface="Malgun Gothic"/>
                <a:cs typeface="Malgun Gothic"/>
              </a:rPr>
              <a:t>데이터 규모</a:t>
            </a:r>
          </a:p>
          <a:p>
            <a:r>
              <a:rPr sz="2300" b="1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선수 기록 25,350건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520440"/>
            <a:ext cx="5257800" cy="1783080"/>
          </a:xfrm>
          <a:prstGeom prst="round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3794760"/>
            <a:ext cx="4617720" cy="12344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88A4E"/>
                </a:solidFill>
                <a:latin typeface="Malgun Gothic"/>
                <a:ea typeface="Malgun Gothic"/>
                <a:cs typeface="Malgun Gothic"/>
              </a:rPr>
              <a:t>분석 도구</a:t>
            </a:r>
          </a:p>
          <a:p>
            <a:r>
              <a:rPr sz="2300" b="1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R · ggplot2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680"/>
                </a:solidFill>
                <a:latin typeface="Malgun Gothic"/>
                <a:ea typeface="Malgun Gothic"/>
                <a:cs typeface="Malgun Gothic"/>
              </a:rPr>
              <a:t>※ 한계: 중국 LPL 정규시즌은 상세 지표가 공개되지 않아, 국제대회(MSI·Worlds) 경기만 포함됩니다.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① 포지션마다 중요한 지표가 다르다</a:t>
            </a:r>
          </a:p>
        </p:txBody>
      </p:sp>
      <p:pic>
        <p:nvPicPr>
          <p:cNvPr id="3" name="Picture 2" descr="01_position_d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7500"/>
            <a:ext cx="7223760" cy="4414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55279" y="2377440"/>
            <a:ext cx="3657600" cy="2651760"/>
          </a:xfrm>
          <a:prstGeom prst="round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2606040"/>
            <a:ext cx="31089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C8AA6E"/>
                </a:solidFill>
                <a:latin typeface="Malgun Gothic"/>
                <a:ea typeface="Malgun Gothic"/>
                <a:cs typeface="Malgun Gothic"/>
              </a:rPr>
              <a:t>역할마다 다른 기준</a:t>
            </a:r>
          </a:p>
          <a:p>
            <a:r>
              <a: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바텀·미드는 딜량이 핵심, 서포터는 가장 낮음. 같은 ‘잘함’도 포지션마다 평가 기준이 달라야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② 초반 우위가 승패를 가른다</a:t>
            </a:r>
          </a:p>
        </p:txBody>
      </p:sp>
      <p:pic>
        <p:nvPicPr>
          <p:cNvPr id="3" name="Picture 2" descr="02_golddiff15_win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7500"/>
            <a:ext cx="7223760" cy="4414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55279" y="2377440"/>
            <a:ext cx="3657600" cy="2651760"/>
          </a:xfrm>
          <a:prstGeom prst="round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2606040"/>
            <a:ext cx="31089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C8AA6E"/>
                </a:solidFill>
                <a:latin typeface="Malgun Gothic"/>
                <a:ea typeface="Malgun Gothic"/>
                <a:cs typeface="Malgun Gothic"/>
              </a:rPr>
              <a:t>15분이 결정적</a:t>
            </a:r>
          </a:p>
          <a:p>
            <a:r>
              <a: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이긴 경기(파랑)는 모든 라인에서 15분 골드가 앞선다. 후반 한방보다 초반 우위가 승패와 직결.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③ 핵심 지표는 실제 승률로 이어진다</a:t>
            </a:r>
          </a:p>
        </p:txBody>
      </p:sp>
      <p:pic>
        <p:nvPicPr>
          <p:cNvPr id="3" name="Picture 2" descr="03_player_dpm_win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79" y="1417320"/>
            <a:ext cx="10170160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모든 포지션에서 우상향 — 평균 딜량이 높은 선수일수록 승률도 높다.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④ 그래서, 최고의 미드는?</a:t>
            </a:r>
          </a:p>
        </p:txBody>
      </p:sp>
      <p:pic>
        <p:nvPicPr>
          <p:cNvPr id="3" name="Picture 2" descr="04_top10_mid_d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0680"/>
            <a:ext cx="6035040" cy="3688080"/>
          </a:xfrm>
          <a:prstGeom prst="rect">
            <a:avLst/>
          </a:prstGeom>
        </p:spPr>
      </p:pic>
      <p:pic>
        <p:nvPicPr>
          <p:cNvPr id="4" name="Picture 3" descr="05_radar_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095" y="1280160"/>
            <a:ext cx="5064369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딜량 1위 Chovy — 딜·CS·골드·시야·KDA 5개 지표를 모두 압도하는 ‘약점 없는 선수’.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1428"/>
                </a:solidFill>
                <a:latin typeface="Malgun Gothic"/>
                <a:ea typeface="Malgun Gothic"/>
                <a:cs typeface="Malgun Gothic"/>
              </a:rPr>
              <a:t>⑤ 게임은 더 빨라졌다</a:t>
            </a:r>
          </a:p>
        </p:txBody>
      </p:sp>
      <p:pic>
        <p:nvPicPr>
          <p:cNvPr id="3" name="Picture 2" descr="06_meta_game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7500"/>
            <a:ext cx="7223760" cy="4414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55279" y="2377440"/>
            <a:ext cx="3657600" cy="2651760"/>
          </a:xfrm>
          <a:prstGeom prst="round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2606040"/>
            <a:ext cx="31089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C8AA6E"/>
                </a:solidFill>
                <a:latin typeface="Malgun Gothic"/>
                <a:ea typeface="Malgun Gothic"/>
                <a:cs typeface="Malgun Gothic"/>
              </a:rPr>
              <a:t>32분대로 단축·안정화</a:t>
            </a:r>
          </a:p>
          <a:p>
            <a:r>
              <a:rPr sz="14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평균 경기 시간이 2016년 38분 정점 이후 줄어 2019년부터 32분 안팎. 패치가 ‘빠른 게임’을 지향.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8AA6E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강한 선수 = 포지션 핵심 지표 상위  +  초반 우위 창출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191256"/>
            <a:ext cx="164592" cy="164592"/>
          </a:xfrm>
          <a:prstGeom prst="rect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08152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C8AA6E"/>
                </a:solidFill>
                <a:latin typeface="Malgun Gothic"/>
                <a:ea typeface="Malgun Gothic"/>
                <a:cs typeface="Malgun Gothic"/>
              </a:rPr>
              <a:t>솔랭 유저  →  </a:t>
            </a:r>
            <a:r>
              <a:rPr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포지션별로 무엇을 연습할지 — 연습 우선순위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849624"/>
            <a:ext cx="164592" cy="164592"/>
          </a:xfrm>
          <a:prstGeom prst="rect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739896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C8AA6E"/>
                </a:solidFill>
                <a:latin typeface="Malgun Gothic"/>
                <a:ea typeface="Malgun Gothic"/>
                <a:cs typeface="Malgun Gothic"/>
              </a:rPr>
              <a:t>팬  →  </a:t>
            </a:r>
            <a:r>
              <a:rPr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경기를 보는 새로운 데이터 관점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507992"/>
            <a:ext cx="164592" cy="164592"/>
          </a:xfrm>
          <a:prstGeom prst="rect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398264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C8AA6E"/>
                </a:solidFill>
                <a:latin typeface="Malgun Gothic"/>
                <a:ea typeface="Malgun Gothic"/>
                <a:cs typeface="Malgun Gothic"/>
              </a:rPr>
              <a:t>코치·분석가  →  </a:t>
            </a:r>
            <a:r>
              <a:rPr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객관적인 선수 평가 기준(KPI)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막연한 ‘잘한다’를 구체적인 지표로.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